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69" r:id="rId2"/>
    <p:sldId id="257" r:id="rId3"/>
    <p:sldId id="260" r:id="rId4"/>
    <p:sldId id="258" r:id="rId5"/>
    <p:sldId id="259" r:id="rId6"/>
    <p:sldId id="261" r:id="rId7"/>
    <p:sldId id="272" r:id="rId8"/>
    <p:sldId id="273" r:id="rId9"/>
    <p:sldId id="262" r:id="rId10"/>
    <p:sldId id="263" r:id="rId11"/>
    <p:sldId id="264" r:id="rId12"/>
    <p:sldId id="274" r:id="rId13"/>
    <p:sldId id="265" r:id="rId14"/>
    <p:sldId id="266" r:id="rId15"/>
    <p:sldId id="268" r:id="rId16"/>
    <p:sldId id="267"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0" d="100"/>
          <a:sy n="60" d="100"/>
        </p:scale>
        <p:origin x="8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64577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0307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14177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89960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01129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77699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66436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5854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48A87A34-81AB-432B-8DAE-1953F412C126}" type="datetimeFigureOut">
              <a:rPr lang="en-US" smtClean="0"/>
              <a:pPr/>
              <a:t>1/29/2026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2184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23981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82024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60243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47815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44429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442874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328290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49294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48A87A34-81AB-432B-8DAE-1953F412C126}" type="datetimeFigureOut">
              <a:rPr lang="en-US" smtClean="0"/>
              <a:pPr/>
              <a:t>1/29/2026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150308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688E4B-F375-68D0-9527-9FE164FE49A6}"/>
              </a:ext>
            </a:extLst>
          </p:cNvPr>
          <p:cNvSpPr txBox="1"/>
          <p:nvPr/>
        </p:nvSpPr>
        <p:spPr>
          <a:xfrm>
            <a:off x="214008" y="133666"/>
            <a:ext cx="7417415" cy="584775"/>
          </a:xfrm>
          <a:prstGeom prst="rect">
            <a:avLst/>
          </a:prstGeom>
          <a:noFill/>
        </p:spPr>
        <p:txBody>
          <a:bodyPr wrap="none" rtlCol="0">
            <a:spAutoFit/>
          </a:bodyPr>
          <a:lstStyle/>
          <a:p>
            <a:r>
              <a:rPr lang="en-US" sz="3200" dirty="0">
                <a:latin typeface="+mj-lt"/>
              </a:rPr>
              <a:t>OLIST STORE E-COMMERCE ANALYSIS</a:t>
            </a:r>
          </a:p>
        </p:txBody>
      </p:sp>
      <p:sp>
        <p:nvSpPr>
          <p:cNvPr id="7" name="TextBox 6">
            <a:extLst>
              <a:ext uri="{FF2B5EF4-FFF2-40B4-BE49-F238E27FC236}">
                <a16:creationId xmlns:a16="http://schemas.microsoft.com/office/drawing/2014/main" id="{0430C916-A97D-6B50-96A8-D48A41DE2144}"/>
              </a:ext>
            </a:extLst>
          </p:cNvPr>
          <p:cNvSpPr txBox="1"/>
          <p:nvPr/>
        </p:nvSpPr>
        <p:spPr>
          <a:xfrm>
            <a:off x="214007" y="718441"/>
            <a:ext cx="2334639" cy="461665"/>
          </a:xfrm>
          <a:prstGeom prst="rect">
            <a:avLst/>
          </a:prstGeom>
          <a:noFill/>
        </p:spPr>
        <p:txBody>
          <a:bodyPr wrap="square" rtlCol="0">
            <a:spAutoFit/>
          </a:bodyPr>
          <a:lstStyle/>
          <a:p>
            <a:r>
              <a:rPr lang="en-US" sz="2400" dirty="0"/>
              <a:t>GROUP NO :3</a:t>
            </a:r>
          </a:p>
        </p:txBody>
      </p:sp>
      <p:sp>
        <p:nvSpPr>
          <p:cNvPr id="8" name="TextBox 7">
            <a:extLst>
              <a:ext uri="{FF2B5EF4-FFF2-40B4-BE49-F238E27FC236}">
                <a16:creationId xmlns:a16="http://schemas.microsoft.com/office/drawing/2014/main" id="{BB3ED4C2-E3CA-E64E-7AE6-547F79205924}"/>
              </a:ext>
            </a:extLst>
          </p:cNvPr>
          <p:cNvSpPr txBox="1"/>
          <p:nvPr/>
        </p:nvSpPr>
        <p:spPr>
          <a:xfrm>
            <a:off x="214007" y="1303216"/>
            <a:ext cx="3429144" cy="2031325"/>
          </a:xfrm>
          <a:prstGeom prst="rect">
            <a:avLst/>
          </a:prstGeom>
          <a:noFill/>
        </p:spPr>
        <p:txBody>
          <a:bodyPr wrap="none" rtlCol="0">
            <a:spAutoFit/>
          </a:bodyPr>
          <a:lstStyle/>
          <a:p>
            <a:pPr marL="342900" indent="-342900">
              <a:buAutoNum type="arabicParenR"/>
            </a:pPr>
            <a:r>
              <a:rPr lang="en-US" dirty="0"/>
              <a:t>SHIVANAND SONMANKAR</a:t>
            </a:r>
          </a:p>
          <a:p>
            <a:pPr marL="342900" indent="-342900">
              <a:buAutoNum type="arabicParenR"/>
            </a:pPr>
            <a:r>
              <a:rPr lang="en-US" dirty="0"/>
              <a:t>YASH RAUL</a:t>
            </a:r>
          </a:p>
          <a:p>
            <a:pPr marL="342900" indent="-342900">
              <a:buAutoNum type="arabicParenR"/>
            </a:pPr>
            <a:r>
              <a:rPr lang="en-US" dirty="0"/>
              <a:t>SARAVANTHI UPPULURI</a:t>
            </a:r>
          </a:p>
          <a:p>
            <a:pPr marL="342900" indent="-342900">
              <a:buAutoNum type="arabicParenR"/>
            </a:pPr>
            <a:r>
              <a:rPr lang="en-US" dirty="0"/>
              <a:t>ASHWANTH C</a:t>
            </a:r>
          </a:p>
          <a:p>
            <a:pPr marL="342900" indent="-342900">
              <a:buAutoNum type="arabicParenR"/>
            </a:pPr>
            <a:r>
              <a:rPr lang="en-US" dirty="0"/>
              <a:t>SIDDHARTH SHRIVASTAVA</a:t>
            </a:r>
          </a:p>
          <a:p>
            <a:pPr marL="342900" indent="-342900">
              <a:buAutoNum type="arabicParenR"/>
            </a:pPr>
            <a:r>
              <a:rPr lang="en-US" dirty="0"/>
              <a:t>KUSHI PRASAD</a:t>
            </a:r>
          </a:p>
          <a:p>
            <a:pPr marL="342900" indent="-342900">
              <a:buAutoNum type="arabicParenR"/>
            </a:pPr>
            <a:r>
              <a:rPr lang="en-US" dirty="0"/>
              <a:t>AMUL GUMPULA</a:t>
            </a:r>
          </a:p>
        </p:txBody>
      </p:sp>
    </p:spTree>
    <p:extLst>
      <p:ext uri="{BB962C8B-B14F-4D97-AF65-F5344CB8AC3E}">
        <p14:creationId xmlns:p14="http://schemas.microsoft.com/office/powerpoint/2010/main" val="2788111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93E9-9AEB-52F4-BAEE-9F8DD68E2AC0}"/>
              </a:ext>
            </a:extLst>
          </p:cNvPr>
          <p:cNvSpPr>
            <a:spLocks noGrp="1"/>
          </p:cNvSpPr>
          <p:nvPr>
            <p:ph type="title"/>
          </p:nvPr>
        </p:nvSpPr>
        <p:spPr>
          <a:xfrm>
            <a:off x="284259" y="466113"/>
            <a:ext cx="3285791" cy="600687"/>
          </a:xfrm>
        </p:spPr>
        <p:txBody>
          <a:bodyPr/>
          <a:lstStyle/>
          <a:p>
            <a:r>
              <a:rPr lang="en-IN" dirty="0"/>
              <a:t>introduction</a:t>
            </a:r>
          </a:p>
        </p:txBody>
      </p:sp>
      <p:sp>
        <p:nvSpPr>
          <p:cNvPr id="3" name="Content Placeholder 2">
            <a:extLst>
              <a:ext uri="{FF2B5EF4-FFF2-40B4-BE49-F238E27FC236}">
                <a16:creationId xmlns:a16="http://schemas.microsoft.com/office/drawing/2014/main" id="{B98B53D1-EF53-1F4E-1497-D0155EBDA086}"/>
              </a:ext>
            </a:extLst>
          </p:cNvPr>
          <p:cNvSpPr>
            <a:spLocks noGrp="1"/>
          </p:cNvSpPr>
          <p:nvPr>
            <p:ph idx="1"/>
          </p:nvPr>
        </p:nvSpPr>
        <p:spPr>
          <a:xfrm>
            <a:off x="431294" y="1266216"/>
            <a:ext cx="9905998" cy="3124201"/>
          </a:xfrm>
        </p:spPr>
        <p:txBody>
          <a:bodyPr>
            <a:normAutofit fontScale="62500" lnSpcReduction="20000"/>
          </a:bodyPr>
          <a:lstStyle/>
          <a:p>
            <a:pPr>
              <a:spcBef>
                <a:spcPts val="0"/>
              </a:spcBef>
            </a:pPr>
            <a:r>
              <a:rPr lang="en-US" sz="2900" dirty="0">
                <a:latin typeface="Gill Sans MT (Body)"/>
                <a:ea typeface="Comic Sans MS"/>
                <a:cs typeface="Comic Sans MS"/>
                <a:sym typeface="Comic Sans MS"/>
              </a:rPr>
              <a:t>Olist is a Brazilian e-commerce company, and this project analyzes the Olist E-commerce Public Dataset As data analysts, our goal is to explore, clean, and analyze the data to uncover insights into customer behavior, sales patterns, product popularity, seller performance, and delivery efficiency.</a:t>
            </a:r>
            <a:endParaRPr lang="en-US" sz="2900" dirty="0">
              <a:latin typeface="Gill Sans MT (Body)"/>
            </a:endParaRPr>
          </a:p>
          <a:p>
            <a:pPr marL="0" indent="0">
              <a:spcBef>
                <a:spcPts val="0"/>
              </a:spcBef>
              <a:buNone/>
            </a:pPr>
            <a:endParaRPr lang="en-US" sz="2900" dirty="0">
              <a:latin typeface="Gill Sans MT (Body)"/>
              <a:ea typeface="Comic Sans MS"/>
              <a:cs typeface="Comic Sans MS"/>
              <a:sym typeface="Comic Sans MS"/>
            </a:endParaRPr>
          </a:p>
          <a:p>
            <a:pPr>
              <a:spcBef>
                <a:spcPts val="0"/>
              </a:spcBef>
            </a:pPr>
            <a:r>
              <a:rPr lang="en-US" sz="2900" dirty="0">
                <a:latin typeface="Gill Sans MT (Body)"/>
                <a:ea typeface="Comic Sans MS"/>
                <a:cs typeface="Comic Sans MS"/>
                <a:sym typeface="Comic Sans MS"/>
              </a:rPr>
              <a:t>Through Exploratory Data Analysis (EDA), we aim to identify trends, answer key business questions, and provide actionable recommendations to improve decision-making, operational efficiency, customer satisfaction, and overall business growth.</a:t>
            </a:r>
            <a:endParaRPr lang="en-US" sz="2900" dirty="0">
              <a:latin typeface="Gill Sans MT (Body)"/>
            </a:endParaRPr>
          </a:p>
          <a:p>
            <a:pPr marL="0" lvl="0" indent="0">
              <a:spcBef>
                <a:spcPts val="0"/>
              </a:spcBef>
              <a:buNone/>
            </a:pPr>
            <a:endParaRPr lang="en-US" sz="2900" dirty="0">
              <a:latin typeface="Gill Sans MT (Body)"/>
              <a:ea typeface="Comic Sans MS"/>
              <a:cs typeface="Comic Sans MS"/>
              <a:sym typeface="Comic Sans MS"/>
            </a:endParaRPr>
          </a:p>
          <a:p>
            <a:pPr>
              <a:spcBef>
                <a:spcPts val="0"/>
              </a:spcBef>
            </a:pPr>
            <a:r>
              <a:rPr lang="en-US" sz="2900" dirty="0">
                <a:latin typeface="Gill Sans MT (Body)"/>
                <a:ea typeface="Comic Sans MS"/>
                <a:cs typeface="Comic Sans MS"/>
                <a:sym typeface="Comic Sans MS"/>
              </a:rPr>
              <a:t>The dataset includes details on orders, payments, customers, products, sellers, deliveries, and reviews, enabling a holistic view of </a:t>
            </a:r>
            <a:r>
              <a:rPr lang="en-US" sz="2900" dirty="0" err="1">
                <a:latin typeface="Gill Sans MT (Body)"/>
                <a:ea typeface="Comic Sans MS"/>
                <a:cs typeface="Comic Sans MS"/>
                <a:sym typeface="Comic Sans MS"/>
              </a:rPr>
              <a:t>Olist’s</a:t>
            </a:r>
            <a:r>
              <a:rPr lang="en-US" sz="2900" dirty="0">
                <a:latin typeface="Gill Sans MT (Body)"/>
                <a:ea typeface="Comic Sans MS"/>
                <a:cs typeface="Comic Sans MS"/>
                <a:sym typeface="Comic Sans MS"/>
              </a:rPr>
              <a:t> e-commerce performance.</a:t>
            </a:r>
            <a:endParaRPr lang="en-US" sz="2900" dirty="0">
              <a:latin typeface="Gill Sans MT (Body)"/>
            </a:endParaRPr>
          </a:p>
          <a:p>
            <a:pPr marL="0" indent="0">
              <a:buNone/>
            </a:pPr>
            <a:endParaRPr lang="en-IN" dirty="0"/>
          </a:p>
        </p:txBody>
      </p:sp>
    </p:spTree>
    <p:extLst>
      <p:ext uri="{BB962C8B-B14F-4D97-AF65-F5344CB8AC3E}">
        <p14:creationId xmlns:p14="http://schemas.microsoft.com/office/powerpoint/2010/main" val="4105186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82DB1-4C1D-2E6B-AEA1-9015AEA19AC7}"/>
              </a:ext>
            </a:extLst>
          </p:cNvPr>
          <p:cNvSpPr>
            <a:spLocks noGrp="1"/>
          </p:cNvSpPr>
          <p:nvPr>
            <p:ph type="title"/>
          </p:nvPr>
        </p:nvSpPr>
        <p:spPr>
          <a:xfrm>
            <a:off x="245350" y="302277"/>
            <a:ext cx="2634038" cy="617621"/>
          </a:xfrm>
        </p:spPr>
        <p:txBody>
          <a:bodyPr/>
          <a:lstStyle/>
          <a:p>
            <a:r>
              <a:rPr lang="en-IN" dirty="0"/>
              <a:t>objectives</a:t>
            </a:r>
          </a:p>
        </p:txBody>
      </p:sp>
      <p:sp>
        <p:nvSpPr>
          <p:cNvPr id="3" name="Content Placeholder 2">
            <a:extLst>
              <a:ext uri="{FF2B5EF4-FFF2-40B4-BE49-F238E27FC236}">
                <a16:creationId xmlns:a16="http://schemas.microsoft.com/office/drawing/2014/main" id="{D20E36B6-8045-7FC5-3AD6-AB8BFB7A96B2}"/>
              </a:ext>
            </a:extLst>
          </p:cNvPr>
          <p:cNvSpPr>
            <a:spLocks noGrp="1"/>
          </p:cNvSpPr>
          <p:nvPr>
            <p:ph idx="1"/>
          </p:nvPr>
        </p:nvSpPr>
        <p:spPr>
          <a:xfrm>
            <a:off x="363200" y="1100846"/>
            <a:ext cx="9905998" cy="3124201"/>
          </a:xfrm>
        </p:spPr>
        <p:txBody>
          <a:bodyPr>
            <a:normAutofit fontScale="92500" lnSpcReduction="20000"/>
          </a:bodyPr>
          <a:lstStyle/>
          <a:p>
            <a:r>
              <a:rPr lang="en-US" dirty="0">
                <a:latin typeface="Gill Sans MT (Body)"/>
              </a:rPr>
              <a:t>Our main objectives for this project are as follows :</a:t>
            </a:r>
          </a:p>
          <a:p>
            <a:pPr>
              <a:lnSpc>
                <a:spcPct val="200000"/>
              </a:lnSpc>
            </a:pPr>
            <a:r>
              <a:rPr lang="en-US" dirty="0">
                <a:latin typeface="Gill Sans MT (Body)"/>
              </a:rPr>
              <a:t> Identify the top products contributing to revenue and the leading product category.</a:t>
            </a:r>
          </a:p>
          <a:p>
            <a:pPr>
              <a:lnSpc>
                <a:spcPct val="200000"/>
              </a:lnSpc>
            </a:pPr>
            <a:r>
              <a:rPr lang="en-US" dirty="0">
                <a:latin typeface="Gill Sans MT (Body)"/>
              </a:rPr>
              <a:t> Enhance our understanding of customer purchase behavior through market basket analysis.</a:t>
            </a:r>
          </a:p>
          <a:p>
            <a:pPr>
              <a:lnSpc>
                <a:spcPct val="150000"/>
              </a:lnSpc>
            </a:pPr>
            <a:r>
              <a:rPr lang="en-US" dirty="0">
                <a:latin typeface="Gill Sans MT (Body)"/>
              </a:rPr>
              <a:t> Determine which items are most likely to be purchased individually or in combination with other products</a:t>
            </a:r>
          </a:p>
          <a:p>
            <a:endParaRPr lang="en-IN" dirty="0"/>
          </a:p>
        </p:txBody>
      </p:sp>
    </p:spTree>
    <p:extLst>
      <p:ext uri="{BB962C8B-B14F-4D97-AF65-F5344CB8AC3E}">
        <p14:creationId xmlns:p14="http://schemas.microsoft.com/office/powerpoint/2010/main" val="328216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7099-27AC-5FC6-44B2-C4B679FF4D02}"/>
              </a:ext>
            </a:extLst>
          </p:cNvPr>
          <p:cNvSpPr>
            <a:spLocks noGrp="1"/>
          </p:cNvSpPr>
          <p:nvPr>
            <p:ph type="title"/>
          </p:nvPr>
        </p:nvSpPr>
        <p:spPr>
          <a:xfrm>
            <a:off x="332898" y="356861"/>
            <a:ext cx="3976455" cy="592221"/>
          </a:xfrm>
        </p:spPr>
        <p:txBody>
          <a:bodyPr/>
          <a:lstStyle/>
          <a:p>
            <a:r>
              <a:rPr lang="en-IN" dirty="0"/>
              <a:t>Project process</a:t>
            </a:r>
          </a:p>
        </p:txBody>
      </p:sp>
      <p:sp>
        <p:nvSpPr>
          <p:cNvPr id="3" name="Content Placeholder 2">
            <a:extLst>
              <a:ext uri="{FF2B5EF4-FFF2-40B4-BE49-F238E27FC236}">
                <a16:creationId xmlns:a16="http://schemas.microsoft.com/office/drawing/2014/main" id="{7CF5626E-1D1E-BB94-F6D1-BB0A89FB66C8}"/>
              </a:ext>
            </a:extLst>
          </p:cNvPr>
          <p:cNvSpPr>
            <a:spLocks noGrp="1"/>
          </p:cNvSpPr>
          <p:nvPr>
            <p:ph idx="1"/>
          </p:nvPr>
        </p:nvSpPr>
        <p:spPr>
          <a:xfrm>
            <a:off x="332898" y="1061936"/>
            <a:ext cx="3080391" cy="2683214"/>
          </a:xfrm>
        </p:spPr>
        <p:txBody>
          <a:bodyPr/>
          <a:lstStyle/>
          <a:p>
            <a:r>
              <a:rPr lang="en-IN" dirty="0"/>
              <a:t>Extract data</a:t>
            </a:r>
          </a:p>
          <a:p>
            <a:r>
              <a:rPr lang="en-IN" dirty="0"/>
              <a:t>Transform data</a:t>
            </a:r>
          </a:p>
          <a:p>
            <a:r>
              <a:rPr lang="en-IN" dirty="0"/>
              <a:t>Load &amp; using tools </a:t>
            </a:r>
          </a:p>
          <a:p>
            <a:r>
              <a:rPr lang="en-IN" dirty="0"/>
              <a:t>KPI &amp; Visualization </a:t>
            </a:r>
          </a:p>
          <a:p>
            <a:r>
              <a:rPr lang="en-IN" dirty="0"/>
              <a:t>Dashboard</a:t>
            </a:r>
          </a:p>
          <a:p>
            <a:pPr marL="0" indent="0">
              <a:buNone/>
            </a:pPr>
            <a:endParaRPr lang="en-IN" dirty="0"/>
          </a:p>
        </p:txBody>
      </p:sp>
      <p:pic>
        <p:nvPicPr>
          <p:cNvPr id="5" name="Picture 4" descr="A diagram of data analytics">
            <a:extLst>
              <a:ext uri="{FF2B5EF4-FFF2-40B4-BE49-F238E27FC236}">
                <a16:creationId xmlns:a16="http://schemas.microsoft.com/office/drawing/2014/main" id="{CD815ADE-74FF-4633-C193-DEFDBDE9634B}"/>
              </a:ext>
            </a:extLst>
          </p:cNvPr>
          <p:cNvPicPr>
            <a:picLocks noChangeAspect="1"/>
          </p:cNvPicPr>
          <p:nvPr/>
        </p:nvPicPr>
        <p:blipFill>
          <a:blip r:embed="rId2"/>
          <a:stretch>
            <a:fillRect/>
          </a:stretch>
        </p:blipFill>
        <p:spPr>
          <a:xfrm>
            <a:off x="194553" y="1094878"/>
            <a:ext cx="11819107" cy="5526251"/>
          </a:xfrm>
          <a:prstGeom prst="rect">
            <a:avLst/>
          </a:prstGeom>
        </p:spPr>
      </p:pic>
    </p:spTree>
    <p:extLst>
      <p:ext uri="{BB962C8B-B14F-4D97-AF65-F5344CB8AC3E}">
        <p14:creationId xmlns:p14="http://schemas.microsoft.com/office/powerpoint/2010/main" val="2253248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CE347-84EA-2DA0-C572-E2A7B9DF5098}"/>
              </a:ext>
            </a:extLst>
          </p:cNvPr>
          <p:cNvSpPr>
            <a:spLocks noGrp="1"/>
          </p:cNvSpPr>
          <p:nvPr>
            <p:ph type="title"/>
          </p:nvPr>
        </p:nvSpPr>
        <p:spPr>
          <a:xfrm>
            <a:off x="167529" y="205001"/>
            <a:ext cx="4569842" cy="617621"/>
          </a:xfrm>
        </p:spPr>
        <p:txBody>
          <a:bodyPr/>
          <a:lstStyle/>
          <a:p>
            <a:r>
              <a:rPr lang="en-IN" dirty="0"/>
              <a:t>Olist store analysis</a:t>
            </a:r>
          </a:p>
        </p:txBody>
      </p:sp>
      <p:sp>
        <p:nvSpPr>
          <p:cNvPr id="3" name="Content Placeholder 2">
            <a:extLst>
              <a:ext uri="{FF2B5EF4-FFF2-40B4-BE49-F238E27FC236}">
                <a16:creationId xmlns:a16="http://schemas.microsoft.com/office/drawing/2014/main" id="{27B7392A-116E-4877-72C9-90E16F16D17E}"/>
              </a:ext>
            </a:extLst>
          </p:cNvPr>
          <p:cNvSpPr>
            <a:spLocks noGrp="1"/>
          </p:cNvSpPr>
          <p:nvPr>
            <p:ph idx="1"/>
          </p:nvPr>
        </p:nvSpPr>
        <p:spPr>
          <a:xfrm>
            <a:off x="167529" y="1168941"/>
            <a:ext cx="9905998" cy="2080097"/>
          </a:xfrm>
        </p:spPr>
        <p:txBody>
          <a:bodyPr>
            <a:noAutofit/>
          </a:bodyPr>
          <a:lstStyle/>
          <a:p>
            <a:r>
              <a:rPr lang="en-US" sz="1800" dirty="0"/>
              <a:t>Olist Store Analysis -Customer Behavior, Payments, Delivery, and Review Insights</a:t>
            </a:r>
          </a:p>
          <a:p>
            <a:endParaRPr lang="en-US" sz="1800" dirty="0"/>
          </a:p>
          <a:p>
            <a:r>
              <a:rPr lang="en-US" sz="1800" dirty="0"/>
              <a:t>This dashboard is built using the Olist Brazilian E-Commerce Dataset, which contains real customer orders, payments, reviews, products, and delivery information.</a:t>
            </a:r>
          </a:p>
          <a:p>
            <a:endParaRPr lang="en-US" sz="1800" dirty="0"/>
          </a:p>
          <a:p>
            <a:r>
              <a:rPr lang="en-US" sz="1800" dirty="0"/>
              <a:t> The goal is to analyze customer behavior, payment patterns, delivery performance, and satisfaction using 5 key KPIs.</a:t>
            </a:r>
          </a:p>
        </p:txBody>
      </p:sp>
    </p:spTree>
    <p:extLst>
      <p:ext uri="{BB962C8B-B14F-4D97-AF65-F5344CB8AC3E}">
        <p14:creationId xmlns:p14="http://schemas.microsoft.com/office/powerpoint/2010/main" val="3551497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E60A2-816E-F549-B68B-F37C207920CF}"/>
              </a:ext>
            </a:extLst>
          </p:cNvPr>
          <p:cNvSpPr>
            <a:spLocks noGrp="1"/>
          </p:cNvSpPr>
          <p:nvPr>
            <p:ph type="title"/>
          </p:nvPr>
        </p:nvSpPr>
        <p:spPr>
          <a:xfrm>
            <a:off x="186984" y="106824"/>
            <a:ext cx="4644421" cy="676887"/>
          </a:xfrm>
        </p:spPr>
        <p:txBody>
          <a:bodyPr/>
          <a:lstStyle/>
          <a:p>
            <a:r>
              <a:rPr lang="en-IN" dirty="0"/>
              <a:t>Olist store analysis</a:t>
            </a:r>
          </a:p>
        </p:txBody>
      </p:sp>
      <p:sp>
        <p:nvSpPr>
          <p:cNvPr id="3" name="Content Placeholder 2">
            <a:extLst>
              <a:ext uri="{FF2B5EF4-FFF2-40B4-BE49-F238E27FC236}">
                <a16:creationId xmlns:a16="http://schemas.microsoft.com/office/drawing/2014/main" id="{912104AE-442C-1E04-0A7B-D90141AAE1EF}"/>
              </a:ext>
            </a:extLst>
          </p:cNvPr>
          <p:cNvSpPr>
            <a:spLocks noGrp="1"/>
          </p:cNvSpPr>
          <p:nvPr>
            <p:ph idx="1"/>
          </p:nvPr>
        </p:nvSpPr>
        <p:spPr>
          <a:xfrm>
            <a:off x="186984" y="895579"/>
            <a:ext cx="9905998" cy="4532455"/>
          </a:xfrm>
        </p:spPr>
        <p:txBody>
          <a:bodyPr>
            <a:normAutofit fontScale="85000" lnSpcReduction="20000"/>
          </a:bodyPr>
          <a:lstStyle/>
          <a:p>
            <a:r>
              <a:rPr lang="en-US" dirty="0"/>
              <a:t>Key KPIs in this Report:  </a:t>
            </a:r>
          </a:p>
          <a:p>
            <a:r>
              <a:rPr lang="en-US" dirty="0"/>
              <a:t>Orders &amp; Payment Patterns-Compare Weekday vs Weekend orders and Payment Type usage.</a:t>
            </a:r>
          </a:p>
          <a:p>
            <a:endParaRPr lang="en-US" dirty="0"/>
          </a:p>
          <a:p>
            <a:r>
              <a:rPr lang="en-US" dirty="0"/>
              <a:t>5 Credit Card Orders -Analyze orders with Review Score 5 paid via Credit Card, across categories, states, and mouths.</a:t>
            </a:r>
          </a:p>
          <a:p>
            <a:endParaRPr lang="en-US" dirty="0"/>
          </a:p>
          <a:p>
            <a:r>
              <a:rPr lang="en-US" dirty="0"/>
              <a:t>Delivery Performance-Calculate Arg Delivery Days overall and for the Pet Shop category, with distribution by state.</a:t>
            </a:r>
          </a:p>
          <a:p>
            <a:endParaRPr lang="en-US" dirty="0"/>
          </a:p>
          <a:p>
            <a:r>
              <a:rPr lang="en-US" dirty="0"/>
              <a:t> São Paulo Payment Analysis-Compare Avg Payment &amp; Order Trends of customers from São Paulo city</a:t>
            </a:r>
          </a:p>
          <a:p>
            <a:endParaRPr lang="en-US" dirty="0"/>
          </a:p>
          <a:p>
            <a:r>
              <a:rPr lang="en-US" dirty="0"/>
              <a:t>Shipping Impart on Reviews-Study the relationship between delivery speed and customer satisfaction, Inking Avg Shipping Days with Review Scores</a:t>
            </a:r>
          </a:p>
          <a:p>
            <a:endParaRPr lang="en-IN" dirty="0"/>
          </a:p>
        </p:txBody>
      </p:sp>
    </p:spTree>
    <p:extLst>
      <p:ext uri="{BB962C8B-B14F-4D97-AF65-F5344CB8AC3E}">
        <p14:creationId xmlns:p14="http://schemas.microsoft.com/office/powerpoint/2010/main" val="3864878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3F522-CC67-0FCA-1B71-9E04EAF10B0C}"/>
              </a:ext>
            </a:extLst>
          </p:cNvPr>
          <p:cNvSpPr txBox="1">
            <a:spLocks/>
          </p:cNvSpPr>
          <p:nvPr/>
        </p:nvSpPr>
        <p:spPr>
          <a:xfrm>
            <a:off x="166632" y="240489"/>
            <a:ext cx="2907310" cy="659954"/>
          </a:xfrm>
          <a:prstGeom prst="rect">
            <a:avLst/>
          </a:prstGeom>
        </p:spPr>
        <p:txBody>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a:t>challenges</a:t>
            </a:r>
            <a:endParaRPr lang="en-IN" dirty="0"/>
          </a:p>
        </p:txBody>
      </p:sp>
      <p:sp>
        <p:nvSpPr>
          <p:cNvPr id="4" name="Content Placeholder 2">
            <a:extLst>
              <a:ext uri="{FF2B5EF4-FFF2-40B4-BE49-F238E27FC236}">
                <a16:creationId xmlns:a16="http://schemas.microsoft.com/office/drawing/2014/main" id="{7CBE5B87-4A8F-74D6-1AD6-F244E5B62EE1}"/>
              </a:ext>
            </a:extLst>
          </p:cNvPr>
          <p:cNvSpPr txBox="1">
            <a:spLocks/>
          </p:cNvSpPr>
          <p:nvPr/>
        </p:nvSpPr>
        <p:spPr>
          <a:xfrm>
            <a:off x="263908" y="1016361"/>
            <a:ext cx="9691721" cy="2412639"/>
          </a:xfrm>
          <a:prstGeom prst="rect">
            <a:avLst/>
          </a:prstGeom>
        </p:spPr>
        <p:txBody>
          <a:bodyPr>
            <a:normAutofit fontScale="85000" lnSpcReduction="2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a:buFont typeface="Wingdings" panose="05000000000000000000" pitchFamily="2" charset="2"/>
              <a:buChar char="Ø"/>
            </a:pPr>
            <a:r>
              <a:rPr lang="en-US" dirty="0"/>
              <a:t>Large dataset with missing and duplicate values</a:t>
            </a:r>
          </a:p>
          <a:p>
            <a:pPr>
              <a:buFont typeface="Wingdings" panose="05000000000000000000" pitchFamily="2" charset="2"/>
              <a:buChar char="Ø"/>
            </a:pPr>
            <a:endParaRPr lang="en-US" dirty="0"/>
          </a:p>
          <a:p>
            <a:pPr>
              <a:buFont typeface="Wingdings" panose="05000000000000000000" pitchFamily="2" charset="2"/>
              <a:buChar char="Ø"/>
            </a:pPr>
            <a:r>
              <a:rPr lang="en-US" dirty="0"/>
              <a:t>Difficulty in joining multiple tables in SQL</a:t>
            </a:r>
          </a:p>
          <a:p>
            <a:pPr>
              <a:buFont typeface="Wingdings" panose="05000000000000000000" pitchFamily="2" charset="2"/>
              <a:buChar char="Ø"/>
            </a:pPr>
            <a:endParaRPr lang="en-US" dirty="0"/>
          </a:p>
          <a:p>
            <a:pPr>
              <a:buFont typeface="Wingdings" panose="05000000000000000000" pitchFamily="2" charset="2"/>
              <a:buChar char="Ø"/>
            </a:pPr>
            <a:r>
              <a:rPr lang="en-US" dirty="0"/>
              <a:t>Understanding business metrics like delivery delay and customer retention</a:t>
            </a:r>
          </a:p>
          <a:p>
            <a:pPr>
              <a:buFont typeface="Wingdings" panose="05000000000000000000" pitchFamily="2" charset="2"/>
              <a:buChar char="Ø"/>
            </a:pPr>
            <a:endParaRPr lang="en-US" dirty="0"/>
          </a:p>
          <a:p>
            <a:pPr>
              <a:buFont typeface="Wingdings" panose="05000000000000000000" pitchFamily="2" charset="2"/>
              <a:buChar char="Ø"/>
            </a:pPr>
            <a:r>
              <a:rPr lang="en-US" dirty="0"/>
              <a:t>Dashboard alignment and performance issues</a:t>
            </a:r>
          </a:p>
        </p:txBody>
      </p:sp>
    </p:spTree>
    <p:extLst>
      <p:ext uri="{BB962C8B-B14F-4D97-AF65-F5344CB8AC3E}">
        <p14:creationId xmlns:p14="http://schemas.microsoft.com/office/powerpoint/2010/main" val="1887091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0F4-81D5-99C1-33E5-F2C938275122}"/>
              </a:ext>
            </a:extLst>
          </p:cNvPr>
          <p:cNvSpPr>
            <a:spLocks noGrp="1"/>
          </p:cNvSpPr>
          <p:nvPr>
            <p:ph type="title"/>
          </p:nvPr>
        </p:nvSpPr>
        <p:spPr>
          <a:xfrm>
            <a:off x="371810" y="237967"/>
            <a:ext cx="5328600" cy="705616"/>
          </a:xfrm>
        </p:spPr>
        <p:txBody>
          <a:bodyPr>
            <a:normAutofit fontScale="90000"/>
          </a:bodyPr>
          <a:lstStyle/>
          <a:p>
            <a:r>
              <a:rPr lang="en-US" dirty="0"/>
              <a:t>How We Resolved Them</a:t>
            </a:r>
            <a:br>
              <a:rPr lang="en-US" dirty="0"/>
            </a:br>
            <a:endParaRPr lang="en-IN" dirty="0"/>
          </a:p>
        </p:txBody>
      </p:sp>
      <p:sp>
        <p:nvSpPr>
          <p:cNvPr id="5" name="Content Placeholder 2">
            <a:extLst>
              <a:ext uri="{FF2B5EF4-FFF2-40B4-BE49-F238E27FC236}">
                <a16:creationId xmlns:a16="http://schemas.microsoft.com/office/drawing/2014/main" id="{D41A98FB-324C-0AE9-6AAA-A45D1FD12394}"/>
              </a:ext>
            </a:extLst>
          </p:cNvPr>
          <p:cNvSpPr>
            <a:spLocks noGrp="1"/>
          </p:cNvSpPr>
          <p:nvPr>
            <p:ph idx="1"/>
          </p:nvPr>
        </p:nvSpPr>
        <p:spPr>
          <a:xfrm>
            <a:off x="371810" y="476655"/>
            <a:ext cx="9767921" cy="3851554"/>
          </a:xfrm>
        </p:spPr>
        <p:txBody>
          <a:bodyPr/>
          <a:lstStyle/>
          <a:p>
            <a:pPr marL="0" indent="0">
              <a:buNone/>
            </a:pPr>
            <a:endParaRPr lang="en-US" dirty="0"/>
          </a:p>
          <a:p>
            <a:pPr>
              <a:buClr>
                <a:schemeClr val="tx1"/>
              </a:buClr>
              <a:buFont typeface="Wingdings" panose="05000000000000000000" pitchFamily="2" charset="2"/>
              <a:buChar char="Ø"/>
            </a:pPr>
            <a:r>
              <a:rPr lang="en-US" dirty="0"/>
              <a:t>Cleaned data using Excel and Power BI </a:t>
            </a:r>
          </a:p>
          <a:p>
            <a:pPr>
              <a:buClr>
                <a:schemeClr val="tx1"/>
              </a:buClr>
              <a:buFont typeface="Wingdings" panose="05000000000000000000" pitchFamily="2" charset="2"/>
              <a:buChar char="Ø"/>
            </a:pPr>
            <a:endParaRPr lang="en-US" dirty="0"/>
          </a:p>
          <a:p>
            <a:pPr>
              <a:buClr>
                <a:schemeClr val="tx1"/>
              </a:buClr>
              <a:buFont typeface="Wingdings" panose="05000000000000000000" pitchFamily="2" charset="2"/>
              <a:buChar char="Ø"/>
            </a:pPr>
            <a:r>
              <a:rPr lang="en-US" dirty="0"/>
              <a:t>Practiced SQL joins and verified results step by step</a:t>
            </a:r>
          </a:p>
          <a:p>
            <a:pPr>
              <a:buClr>
                <a:schemeClr val="tx1"/>
              </a:buClr>
              <a:buFont typeface="Wingdings" panose="05000000000000000000" pitchFamily="2" charset="2"/>
              <a:buChar char="Ø"/>
            </a:pPr>
            <a:endParaRPr lang="en-US" dirty="0"/>
          </a:p>
          <a:p>
            <a:pPr>
              <a:buClr>
                <a:schemeClr val="tx1"/>
              </a:buClr>
              <a:buFont typeface="Wingdings" panose="05000000000000000000" pitchFamily="2" charset="2"/>
              <a:buChar char="Ø"/>
            </a:pPr>
            <a:r>
              <a:rPr lang="en-US" dirty="0"/>
              <a:t>Referred documentation and tutorials</a:t>
            </a:r>
          </a:p>
          <a:p>
            <a:pPr>
              <a:buClr>
                <a:schemeClr val="tx1"/>
              </a:buClr>
              <a:buFont typeface="Wingdings" panose="05000000000000000000" pitchFamily="2" charset="2"/>
              <a:buChar char="Ø"/>
            </a:pPr>
            <a:endParaRPr lang="en-US" dirty="0"/>
          </a:p>
          <a:p>
            <a:pPr>
              <a:buClr>
                <a:schemeClr val="tx1"/>
              </a:buClr>
              <a:buFont typeface="Wingdings" panose="05000000000000000000" pitchFamily="2" charset="2"/>
              <a:buChar char="Ø"/>
            </a:pPr>
            <a:r>
              <a:rPr lang="en-US" dirty="0"/>
              <a:t>Team discussions and task sharing helped us overcome issues</a:t>
            </a:r>
            <a:endParaRPr lang="en-IN" dirty="0"/>
          </a:p>
          <a:p>
            <a:pPr marL="0" indent="0">
              <a:buNone/>
            </a:pPr>
            <a:endParaRPr lang="en-IN" dirty="0"/>
          </a:p>
        </p:txBody>
      </p:sp>
    </p:spTree>
    <p:extLst>
      <p:ext uri="{BB962C8B-B14F-4D97-AF65-F5344CB8AC3E}">
        <p14:creationId xmlns:p14="http://schemas.microsoft.com/office/powerpoint/2010/main" val="1971745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B5B0F-68F1-9FBD-77AE-C591B6F5B6E2}"/>
              </a:ext>
            </a:extLst>
          </p:cNvPr>
          <p:cNvSpPr>
            <a:spLocks noGrp="1"/>
          </p:cNvSpPr>
          <p:nvPr>
            <p:ph type="title"/>
          </p:nvPr>
        </p:nvSpPr>
        <p:spPr>
          <a:xfrm>
            <a:off x="303715" y="270573"/>
            <a:ext cx="2089289" cy="600687"/>
          </a:xfrm>
        </p:spPr>
        <p:txBody>
          <a:bodyPr/>
          <a:lstStyle/>
          <a:p>
            <a:r>
              <a:rPr lang="en-IN" dirty="0"/>
              <a:t>insights</a:t>
            </a:r>
          </a:p>
        </p:txBody>
      </p:sp>
      <p:sp>
        <p:nvSpPr>
          <p:cNvPr id="3" name="Content Placeholder 2">
            <a:extLst>
              <a:ext uri="{FF2B5EF4-FFF2-40B4-BE49-F238E27FC236}">
                <a16:creationId xmlns:a16="http://schemas.microsoft.com/office/drawing/2014/main" id="{5AC9538E-0898-9054-A589-CAA6DCEE50CE}"/>
              </a:ext>
            </a:extLst>
          </p:cNvPr>
          <p:cNvSpPr>
            <a:spLocks noGrp="1"/>
          </p:cNvSpPr>
          <p:nvPr>
            <p:ph idx="1"/>
          </p:nvPr>
        </p:nvSpPr>
        <p:spPr>
          <a:xfrm>
            <a:off x="392384" y="974387"/>
            <a:ext cx="9905998" cy="3124201"/>
          </a:xfrm>
        </p:spPr>
        <p:txBody>
          <a:bodyPr>
            <a:normAutofit lnSpcReduction="10000"/>
          </a:bodyPr>
          <a:lstStyle/>
          <a:p>
            <a:r>
              <a:rPr lang="en-US" dirty="0"/>
              <a:t>Order Volume &amp; Delivery Olist handled-99,440 orders, with -90% delivery success rate.</a:t>
            </a:r>
          </a:p>
          <a:p>
            <a:r>
              <a:rPr lang="en-US" dirty="0"/>
              <a:t>Product Ratings Average rating is 4.09 stans some categories rate as high as 4.67, others as low as 2.5.</a:t>
            </a:r>
          </a:p>
          <a:p>
            <a:r>
              <a:rPr lang="en-US" dirty="0"/>
              <a:t>Quality Concerns-store reviews rank 3rd most common, suggesting  product quality or delivery issues. </a:t>
            </a:r>
          </a:p>
          <a:p>
            <a:r>
              <a:rPr lang="en-US" dirty="0"/>
              <a:t>Customer Behavior Sales patterns highlight Interest in specific product categories and regions.</a:t>
            </a:r>
          </a:p>
          <a:p>
            <a:r>
              <a:rPr lang="en-US" dirty="0"/>
              <a:t>Business Opportunities&amp; targeted marketing can boost growth</a:t>
            </a:r>
            <a:endParaRPr lang="en-IN" dirty="0"/>
          </a:p>
        </p:txBody>
      </p:sp>
    </p:spTree>
    <p:extLst>
      <p:ext uri="{BB962C8B-B14F-4D97-AF65-F5344CB8AC3E}">
        <p14:creationId xmlns:p14="http://schemas.microsoft.com/office/powerpoint/2010/main" val="3149433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32F65-E085-54D4-6DE5-1E8B7CE8FE65}"/>
              </a:ext>
            </a:extLst>
          </p:cNvPr>
          <p:cNvSpPr>
            <a:spLocks noGrp="1"/>
          </p:cNvSpPr>
          <p:nvPr>
            <p:ph type="title"/>
          </p:nvPr>
        </p:nvSpPr>
        <p:spPr>
          <a:xfrm>
            <a:off x="269313" y="201789"/>
            <a:ext cx="4078952" cy="811178"/>
          </a:xfrm>
        </p:spPr>
        <p:txBody>
          <a:bodyPr/>
          <a:lstStyle/>
          <a:p>
            <a:r>
              <a:rPr lang="en-IN" dirty="0"/>
              <a:t>Excel dashboard</a:t>
            </a:r>
          </a:p>
        </p:txBody>
      </p:sp>
      <p:pic>
        <p:nvPicPr>
          <p:cNvPr id="5" name="Content Placeholder 4">
            <a:extLst>
              <a:ext uri="{FF2B5EF4-FFF2-40B4-BE49-F238E27FC236}">
                <a16:creationId xmlns:a16="http://schemas.microsoft.com/office/drawing/2014/main" id="{75B84BF2-9AEF-4772-10F1-4AEC8BC93996}"/>
              </a:ext>
            </a:extLst>
          </p:cNvPr>
          <p:cNvPicPr>
            <a:picLocks noGrp="1" noChangeAspect="1"/>
          </p:cNvPicPr>
          <p:nvPr>
            <p:ph idx="1"/>
          </p:nvPr>
        </p:nvPicPr>
        <p:blipFill>
          <a:blip r:embed="rId2"/>
          <a:stretch>
            <a:fillRect/>
          </a:stretch>
        </p:blipFill>
        <p:spPr>
          <a:xfrm>
            <a:off x="145741" y="1012966"/>
            <a:ext cx="11945740" cy="5718573"/>
          </a:xfrm>
        </p:spPr>
      </p:pic>
    </p:spTree>
    <p:extLst>
      <p:ext uri="{BB962C8B-B14F-4D97-AF65-F5344CB8AC3E}">
        <p14:creationId xmlns:p14="http://schemas.microsoft.com/office/powerpoint/2010/main" val="167463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2CD14-D595-11C8-0ADF-1B06E98026F4}"/>
              </a:ext>
            </a:extLst>
          </p:cNvPr>
          <p:cNvSpPr>
            <a:spLocks noGrp="1"/>
          </p:cNvSpPr>
          <p:nvPr>
            <p:ph type="title"/>
          </p:nvPr>
        </p:nvSpPr>
        <p:spPr>
          <a:xfrm>
            <a:off x="312908" y="240669"/>
            <a:ext cx="4648199" cy="868284"/>
          </a:xfrm>
        </p:spPr>
        <p:txBody>
          <a:bodyPr/>
          <a:lstStyle/>
          <a:p>
            <a:r>
              <a:rPr lang="en-IN" dirty="0"/>
              <a:t>Tableau dashboard</a:t>
            </a:r>
          </a:p>
        </p:txBody>
      </p:sp>
      <p:pic>
        <p:nvPicPr>
          <p:cNvPr id="5" name="Content Placeholder 4">
            <a:extLst>
              <a:ext uri="{FF2B5EF4-FFF2-40B4-BE49-F238E27FC236}">
                <a16:creationId xmlns:a16="http://schemas.microsoft.com/office/drawing/2014/main" id="{74B148C0-F497-D7A6-4875-A2D85BCCEE22}"/>
              </a:ext>
            </a:extLst>
          </p:cNvPr>
          <p:cNvPicPr>
            <a:picLocks noGrp="1" noChangeAspect="1"/>
          </p:cNvPicPr>
          <p:nvPr>
            <p:ph idx="1"/>
          </p:nvPr>
        </p:nvPicPr>
        <p:blipFill>
          <a:blip r:embed="rId2"/>
          <a:stretch>
            <a:fillRect/>
          </a:stretch>
        </p:blipFill>
        <p:spPr>
          <a:xfrm>
            <a:off x="184826" y="1108953"/>
            <a:ext cx="11828834" cy="5508378"/>
          </a:xfrm>
        </p:spPr>
      </p:pic>
    </p:spTree>
    <p:extLst>
      <p:ext uri="{BB962C8B-B14F-4D97-AF65-F5344CB8AC3E}">
        <p14:creationId xmlns:p14="http://schemas.microsoft.com/office/powerpoint/2010/main" val="400193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24B7-8446-16B2-9575-46FF1250A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14EDC-BC93-6FC2-58BC-EF357231086C}"/>
              </a:ext>
            </a:extLst>
          </p:cNvPr>
          <p:cNvSpPr>
            <a:spLocks noGrp="1"/>
          </p:cNvSpPr>
          <p:nvPr>
            <p:ph type="title"/>
          </p:nvPr>
        </p:nvSpPr>
        <p:spPr>
          <a:xfrm>
            <a:off x="312908" y="240669"/>
            <a:ext cx="4648199" cy="868284"/>
          </a:xfrm>
        </p:spPr>
        <p:txBody>
          <a:bodyPr/>
          <a:lstStyle/>
          <a:p>
            <a:r>
              <a:rPr lang="en-IN" dirty="0"/>
              <a:t>Tableau dashboard</a:t>
            </a:r>
          </a:p>
        </p:txBody>
      </p:sp>
      <p:pic>
        <p:nvPicPr>
          <p:cNvPr id="7" name="Content Placeholder 6">
            <a:extLst>
              <a:ext uri="{FF2B5EF4-FFF2-40B4-BE49-F238E27FC236}">
                <a16:creationId xmlns:a16="http://schemas.microsoft.com/office/drawing/2014/main" id="{6F983FC2-65A6-1A9E-3445-9CD91A6AFFE8}"/>
              </a:ext>
            </a:extLst>
          </p:cNvPr>
          <p:cNvPicPr>
            <a:picLocks noGrp="1" noChangeAspect="1"/>
          </p:cNvPicPr>
          <p:nvPr>
            <p:ph idx="1"/>
          </p:nvPr>
        </p:nvPicPr>
        <p:blipFill>
          <a:blip r:embed="rId2"/>
          <a:stretch>
            <a:fillRect/>
          </a:stretch>
        </p:blipFill>
        <p:spPr>
          <a:xfrm>
            <a:off x="202019" y="946297"/>
            <a:ext cx="11770241" cy="5671033"/>
          </a:xfrm>
          <a:prstGeom prst="rect">
            <a:avLst/>
          </a:prstGeom>
        </p:spPr>
      </p:pic>
    </p:spTree>
    <p:extLst>
      <p:ext uri="{BB962C8B-B14F-4D97-AF65-F5344CB8AC3E}">
        <p14:creationId xmlns:p14="http://schemas.microsoft.com/office/powerpoint/2010/main" val="2958223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61967-3819-8BEF-DF9B-042FA68D9A76}"/>
              </a:ext>
            </a:extLst>
          </p:cNvPr>
          <p:cNvSpPr>
            <a:spLocks noGrp="1"/>
          </p:cNvSpPr>
          <p:nvPr>
            <p:ph type="title"/>
          </p:nvPr>
        </p:nvSpPr>
        <p:spPr>
          <a:xfrm>
            <a:off x="215270" y="121777"/>
            <a:ext cx="4901480" cy="633918"/>
          </a:xfrm>
        </p:spPr>
        <p:txBody>
          <a:bodyPr/>
          <a:lstStyle/>
          <a:p>
            <a:r>
              <a:rPr lang="en-IN" dirty="0"/>
              <a:t>Power bi dashboard</a:t>
            </a:r>
          </a:p>
        </p:txBody>
      </p:sp>
      <p:pic>
        <p:nvPicPr>
          <p:cNvPr id="5" name="Content Placeholder 4">
            <a:extLst>
              <a:ext uri="{FF2B5EF4-FFF2-40B4-BE49-F238E27FC236}">
                <a16:creationId xmlns:a16="http://schemas.microsoft.com/office/drawing/2014/main" id="{087A830C-C284-7E28-4690-C9904A9B76CE}"/>
              </a:ext>
            </a:extLst>
          </p:cNvPr>
          <p:cNvPicPr>
            <a:picLocks noGrp="1" noChangeAspect="1"/>
          </p:cNvPicPr>
          <p:nvPr>
            <p:ph idx="1"/>
          </p:nvPr>
        </p:nvPicPr>
        <p:blipFill>
          <a:blip r:embed="rId2"/>
          <a:stretch>
            <a:fillRect/>
          </a:stretch>
        </p:blipFill>
        <p:spPr>
          <a:xfrm>
            <a:off x="215269" y="834201"/>
            <a:ext cx="11658931" cy="5780607"/>
          </a:xfrm>
        </p:spPr>
      </p:pic>
    </p:spTree>
    <p:extLst>
      <p:ext uri="{BB962C8B-B14F-4D97-AF65-F5344CB8AC3E}">
        <p14:creationId xmlns:p14="http://schemas.microsoft.com/office/powerpoint/2010/main" val="3332089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F6EB-6010-3529-A59A-F794F81D9E4A}"/>
              </a:ext>
            </a:extLst>
          </p:cNvPr>
          <p:cNvSpPr>
            <a:spLocks noGrp="1"/>
          </p:cNvSpPr>
          <p:nvPr>
            <p:ph type="title"/>
          </p:nvPr>
        </p:nvSpPr>
        <p:spPr>
          <a:xfrm>
            <a:off x="152936" y="76382"/>
            <a:ext cx="2726451" cy="874763"/>
          </a:xfrm>
        </p:spPr>
        <p:txBody>
          <a:bodyPr/>
          <a:lstStyle/>
          <a:p>
            <a:r>
              <a:rPr lang="en-IN" dirty="0" err="1"/>
              <a:t>Sql</a:t>
            </a:r>
            <a:r>
              <a:rPr lang="en-IN" dirty="0"/>
              <a:t> queries</a:t>
            </a:r>
          </a:p>
        </p:txBody>
      </p:sp>
      <p:pic>
        <p:nvPicPr>
          <p:cNvPr id="5" name="Content Placeholder 4">
            <a:extLst>
              <a:ext uri="{FF2B5EF4-FFF2-40B4-BE49-F238E27FC236}">
                <a16:creationId xmlns:a16="http://schemas.microsoft.com/office/drawing/2014/main" id="{17637333-1C50-8252-C207-6EC630490532}"/>
              </a:ext>
            </a:extLst>
          </p:cNvPr>
          <p:cNvPicPr>
            <a:picLocks noGrp="1" noChangeAspect="1"/>
          </p:cNvPicPr>
          <p:nvPr>
            <p:ph idx="1"/>
          </p:nvPr>
        </p:nvPicPr>
        <p:blipFill>
          <a:blip r:embed="rId2"/>
          <a:stretch>
            <a:fillRect/>
          </a:stretch>
        </p:blipFill>
        <p:spPr>
          <a:xfrm>
            <a:off x="152936" y="768485"/>
            <a:ext cx="11886127" cy="5885234"/>
          </a:xfrm>
        </p:spPr>
      </p:pic>
    </p:spTree>
    <p:extLst>
      <p:ext uri="{BB962C8B-B14F-4D97-AF65-F5344CB8AC3E}">
        <p14:creationId xmlns:p14="http://schemas.microsoft.com/office/powerpoint/2010/main" val="2933619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EEE2E-500D-DDBA-3BB9-CB752465B629}"/>
              </a:ext>
            </a:extLst>
          </p:cNvPr>
          <p:cNvSpPr>
            <a:spLocks noGrp="1"/>
          </p:cNvSpPr>
          <p:nvPr>
            <p:ph type="title"/>
          </p:nvPr>
        </p:nvSpPr>
        <p:spPr>
          <a:xfrm>
            <a:off x="275611" y="210046"/>
            <a:ext cx="2351936" cy="651487"/>
          </a:xfrm>
        </p:spPr>
        <p:txBody>
          <a:bodyPr/>
          <a:lstStyle/>
          <a:p>
            <a:r>
              <a:rPr lang="en-IN" dirty="0"/>
              <a:t>summary</a:t>
            </a:r>
          </a:p>
        </p:txBody>
      </p:sp>
      <p:sp>
        <p:nvSpPr>
          <p:cNvPr id="3" name="Content Placeholder 2">
            <a:extLst>
              <a:ext uri="{FF2B5EF4-FFF2-40B4-BE49-F238E27FC236}">
                <a16:creationId xmlns:a16="http://schemas.microsoft.com/office/drawing/2014/main" id="{D8A43EA6-A26F-2A58-BE6F-3B142DF5A309}"/>
              </a:ext>
            </a:extLst>
          </p:cNvPr>
          <p:cNvSpPr>
            <a:spLocks noGrp="1"/>
          </p:cNvSpPr>
          <p:nvPr>
            <p:ph idx="1"/>
          </p:nvPr>
        </p:nvSpPr>
        <p:spPr>
          <a:xfrm>
            <a:off x="420447" y="965145"/>
            <a:ext cx="9603275" cy="3487601"/>
          </a:xfrm>
        </p:spPr>
        <p:txBody>
          <a:bodyPr>
            <a:normAutofit fontScale="92500" lnSpcReduction="20000"/>
          </a:bodyPr>
          <a:lstStyle/>
          <a:p>
            <a:pPr lvl="0">
              <a:spcBef>
                <a:spcPts val="0"/>
              </a:spcBef>
              <a:buClr>
                <a:schemeClr val="tx1"/>
              </a:buClr>
              <a:buSzPts val="1800"/>
              <a:buFont typeface="Wingdings" panose="05000000000000000000" pitchFamily="2" charset="2"/>
              <a:buChar char="Ø"/>
            </a:pPr>
            <a:r>
              <a:rPr lang="en-US" dirty="0">
                <a:latin typeface="Gill Sans MT (Body)"/>
                <a:ea typeface="Comic Sans MS"/>
                <a:cs typeface="Comic Sans MS"/>
                <a:sym typeface="Comic Sans MS"/>
              </a:rPr>
              <a:t>Regular monitoring of </a:t>
            </a:r>
            <a:r>
              <a:rPr lang="en-US" b="1" dirty="0">
                <a:latin typeface="Gill Sans MT (Body)"/>
                <a:ea typeface="Comic Sans MS"/>
                <a:cs typeface="Comic Sans MS"/>
                <a:sym typeface="Comic Sans MS"/>
              </a:rPr>
              <a:t>customer reviews</a:t>
            </a:r>
            <a:r>
              <a:rPr lang="en-US" dirty="0">
                <a:latin typeface="Gill Sans MT (Body)"/>
                <a:ea typeface="Comic Sans MS"/>
                <a:cs typeface="Comic Sans MS"/>
                <a:sym typeface="Comic Sans MS"/>
              </a:rPr>
              <a:t> improves product quality &amp; service.</a:t>
            </a:r>
            <a:endParaRPr lang="en-US" dirty="0">
              <a:latin typeface="Gill Sans MT (Body)"/>
            </a:endParaRPr>
          </a:p>
          <a:p>
            <a:pPr marL="457200" lvl="0" indent="-342900">
              <a:spcBef>
                <a:spcPts val="0"/>
              </a:spcBef>
              <a:buClr>
                <a:schemeClr val="tx1"/>
              </a:buClr>
              <a:buSzPts val="1800"/>
              <a:buFont typeface="Wingdings" panose="05000000000000000000" pitchFamily="2" charset="2"/>
              <a:buChar char="Ø"/>
            </a:pPr>
            <a:endParaRPr lang="en-US" dirty="0">
              <a:latin typeface="Gill Sans MT (Body)"/>
              <a:ea typeface="Comic Sans MS"/>
              <a:cs typeface="Comic Sans MS"/>
              <a:sym typeface="Comic Sans MS"/>
            </a:endParaRPr>
          </a:p>
          <a:p>
            <a:pPr lvl="0">
              <a:spcBef>
                <a:spcPts val="0"/>
              </a:spcBef>
              <a:buClr>
                <a:schemeClr val="tx1"/>
              </a:buClr>
              <a:buSzPts val="1800"/>
              <a:buFont typeface="Wingdings" panose="05000000000000000000" pitchFamily="2" charset="2"/>
              <a:buChar char="Ø"/>
            </a:pPr>
            <a:r>
              <a:rPr lang="en-US" b="1" dirty="0">
                <a:latin typeface="Gill Sans MT (Body)"/>
                <a:ea typeface="Comic Sans MS"/>
                <a:cs typeface="Comic Sans MS"/>
                <a:sym typeface="Comic Sans MS"/>
              </a:rPr>
              <a:t>Fleet performance tracking</a:t>
            </a:r>
            <a:r>
              <a:rPr lang="en-US" dirty="0">
                <a:latin typeface="Gill Sans MT (Body)"/>
                <a:ea typeface="Comic Sans MS"/>
                <a:cs typeface="Comic Sans MS"/>
                <a:sym typeface="Comic Sans MS"/>
              </a:rPr>
              <a:t> reduces delays and ensures timely deliveries.</a:t>
            </a:r>
            <a:endParaRPr lang="en-US" dirty="0">
              <a:latin typeface="Gill Sans MT (Body)"/>
            </a:endParaRPr>
          </a:p>
          <a:p>
            <a:pPr marL="457200" lvl="0" indent="-342900">
              <a:spcBef>
                <a:spcPts val="0"/>
              </a:spcBef>
              <a:buClr>
                <a:schemeClr val="tx1"/>
              </a:buClr>
              <a:buSzPts val="1800"/>
              <a:buFont typeface="Wingdings" panose="05000000000000000000" pitchFamily="2" charset="2"/>
              <a:buChar char="Ø"/>
            </a:pPr>
            <a:endParaRPr lang="en-US" dirty="0">
              <a:latin typeface="Gill Sans MT (Body)"/>
              <a:ea typeface="Comic Sans MS"/>
              <a:cs typeface="Comic Sans MS"/>
              <a:sym typeface="Comic Sans MS"/>
            </a:endParaRPr>
          </a:p>
          <a:p>
            <a:pPr lvl="0">
              <a:spcBef>
                <a:spcPts val="0"/>
              </a:spcBef>
              <a:buClr>
                <a:schemeClr val="tx1"/>
              </a:buClr>
              <a:buSzPts val="1800"/>
              <a:buFont typeface="Wingdings" panose="05000000000000000000" pitchFamily="2" charset="2"/>
              <a:buChar char="Ø"/>
            </a:pPr>
            <a:r>
              <a:rPr lang="en-US" dirty="0">
                <a:latin typeface="Gill Sans MT (Body)"/>
                <a:ea typeface="Comic Sans MS"/>
                <a:cs typeface="Comic Sans MS"/>
                <a:sym typeface="Comic Sans MS"/>
              </a:rPr>
              <a:t>Proper </a:t>
            </a:r>
            <a:r>
              <a:rPr lang="en-US" b="1" dirty="0">
                <a:latin typeface="Gill Sans MT (Body)"/>
                <a:ea typeface="Comic Sans MS"/>
                <a:cs typeface="Comic Sans MS"/>
                <a:sym typeface="Comic Sans MS"/>
              </a:rPr>
              <a:t>shipment tracking &amp; communication</a:t>
            </a:r>
            <a:r>
              <a:rPr lang="en-US" dirty="0">
                <a:latin typeface="Gill Sans MT (Body)"/>
                <a:ea typeface="Comic Sans MS"/>
                <a:cs typeface="Comic Sans MS"/>
                <a:sym typeface="Comic Sans MS"/>
              </a:rPr>
              <a:t> builds trust with customers.</a:t>
            </a:r>
            <a:endParaRPr lang="en-US" dirty="0">
              <a:latin typeface="Gill Sans MT (Body)"/>
            </a:endParaRPr>
          </a:p>
          <a:p>
            <a:pPr marL="457200" lvl="0" indent="-342900">
              <a:spcBef>
                <a:spcPts val="0"/>
              </a:spcBef>
              <a:buClr>
                <a:schemeClr val="tx1"/>
              </a:buClr>
              <a:buSzPts val="1800"/>
              <a:buFont typeface="Wingdings" panose="05000000000000000000" pitchFamily="2" charset="2"/>
              <a:buChar char="Ø"/>
            </a:pPr>
            <a:endParaRPr lang="en-US" dirty="0">
              <a:latin typeface="Gill Sans MT (Body)"/>
              <a:ea typeface="Comic Sans MS"/>
              <a:cs typeface="Comic Sans MS"/>
              <a:sym typeface="Comic Sans MS"/>
            </a:endParaRPr>
          </a:p>
          <a:p>
            <a:pPr lvl="0">
              <a:spcBef>
                <a:spcPts val="0"/>
              </a:spcBef>
              <a:buClr>
                <a:schemeClr val="tx1"/>
              </a:buClr>
              <a:buSzPts val="1800"/>
              <a:buFont typeface="Wingdings" panose="05000000000000000000" pitchFamily="2" charset="2"/>
              <a:buChar char="Ø"/>
            </a:pPr>
            <a:r>
              <a:rPr lang="en-US" b="1" dirty="0">
                <a:latin typeface="Gill Sans MT (Body)"/>
                <a:ea typeface="Comic Sans MS"/>
                <a:cs typeface="Comic Sans MS"/>
                <a:sym typeface="Comic Sans MS"/>
              </a:rPr>
              <a:t>Data-driven insights</a:t>
            </a:r>
            <a:r>
              <a:rPr lang="en-US" dirty="0">
                <a:latin typeface="Gill Sans MT (Body)"/>
                <a:ea typeface="Comic Sans MS"/>
                <a:cs typeface="Comic Sans MS"/>
                <a:sym typeface="Comic Sans MS"/>
              </a:rPr>
              <a:t> support better decision-making and planning.</a:t>
            </a:r>
            <a:endParaRPr lang="en-US" dirty="0">
              <a:latin typeface="Gill Sans MT (Body)"/>
            </a:endParaRPr>
          </a:p>
          <a:p>
            <a:pPr marL="457200" lvl="0" indent="-342900">
              <a:spcBef>
                <a:spcPts val="0"/>
              </a:spcBef>
              <a:buClr>
                <a:schemeClr val="tx1"/>
              </a:buClr>
              <a:buSzPts val="1800"/>
              <a:buFont typeface="Wingdings" panose="05000000000000000000" pitchFamily="2" charset="2"/>
              <a:buChar char="Ø"/>
            </a:pPr>
            <a:endParaRPr lang="en-US" dirty="0">
              <a:latin typeface="Gill Sans MT (Body)"/>
              <a:ea typeface="Comic Sans MS"/>
              <a:cs typeface="Comic Sans MS"/>
              <a:sym typeface="Comic Sans MS"/>
            </a:endParaRPr>
          </a:p>
          <a:p>
            <a:pPr lvl="0">
              <a:spcBef>
                <a:spcPts val="0"/>
              </a:spcBef>
              <a:buClr>
                <a:schemeClr val="tx1"/>
              </a:buClr>
              <a:buSzPts val="1800"/>
              <a:buFont typeface="Wingdings" panose="05000000000000000000" pitchFamily="2" charset="2"/>
              <a:buChar char="Ø"/>
            </a:pPr>
            <a:r>
              <a:rPr lang="en-US" b="1" dirty="0">
                <a:latin typeface="Gill Sans MT (Body)"/>
                <a:ea typeface="Comic Sans MS"/>
                <a:cs typeface="Comic Sans MS"/>
                <a:sym typeface="Comic Sans MS"/>
              </a:rPr>
              <a:t>Delivery optimization</a:t>
            </a:r>
            <a:r>
              <a:rPr lang="en-US" dirty="0">
                <a:latin typeface="Gill Sans MT (Body)"/>
                <a:ea typeface="Comic Sans MS"/>
                <a:cs typeface="Comic Sans MS"/>
                <a:sym typeface="Comic Sans MS"/>
              </a:rPr>
              <a:t> enhances supply chain efficiency.</a:t>
            </a:r>
            <a:endParaRPr lang="en-US" dirty="0">
              <a:latin typeface="Gill Sans MT (Body)"/>
            </a:endParaRPr>
          </a:p>
          <a:p>
            <a:pPr marL="114300" lvl="0" indent="0">
              <a:spcBef>
                <a:spcPts val="0"/>
              </a:spcBef>
              <a:buClr>
                <a:schemeClr val="tx1"/>
              </a:buClr>
              <a:buSzPts val="1800"/>
              <a:buNone/>
            </a:pPr>
            <a:endParaRPr lang="en-US" dirty="0">
              <a:latin typeface="Gill Sans MT (Body)"/>
              <a:ea typeface="Comic Sans MS"/>
              <a:cs typeface="Comic Sans MS"/>
              <a:sym typeface="Comic Sans MS"/>
            </a:endParaRPr>
          </a:p>
          <a:p>
            <a:pPr lvl="0">
              <a:spcBef>
                <a:spcPts val="0"/>
              </a:spcBef>
              <a:buClr>
                <a:schemeClr val="tx1"/>
              </a:buClr>
              <a:buSzPts val="1800"/>
              <a:buFont typeface="Wingdings" panose="05000000000000000000" pitchFamily="2" charset="2"/>
              <a:buChar char="Ø"/>
            </a:pPr>
            <a:r>
              <a:rPr lang="en-US" b="1" dirty="0">
                <a:latin typeface="Gill Sans MT (Body)"/>
                <a:ea typeface="Comic Sans MS"/>
                <a:cs typeface="Comic Sans MS"/>
                <a:sym typeface="Comic Sans MS"/>
              </a:rPr>
              <a:t>Customer-focused strategies</a:t>
            </a:r>
            <a:r>
              <a:rPr lang="en-US" dirty="0">
                <a:latin typeface="Gill Sans MT (Body)"/>
                <a:ea typeface="Comic Sans MS"/>
                <a:cs typeface="Comic Sans MS"/>
                <a:sym typeface="Comic Sans MS"/>
              </a:rPr>
              <a:t> boost satisfaction and loyalty.</a:t>
            </a:r>
            <a:endParaRPr lang="en-US" dirty="0">
              <a:latin typeface="Gill Sans MT (Body)"/>
            </a:endParaRPr>
          </a:p>
        </p:txBody>
      </p:sp>
    </p:spTree>
    <p:extLst>
      <p:ext uri="{BB962C8B-B14F-4D97-AF65-F5344CB8AC3E}">
        <p14:creationId xmlns:p14="http://schemas.microsoft.com/office/powerpoint/2010/main" val="1250487890"/>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07B1B-AB79-47E1-AA09-3786CA6E7637}"/>
              </a:ext>
            </a:extLst>
          </p:cNvPr>
          <p:cNvSpPr>
            <a:spLocks noGrp="1"/>
          </p:cNvSpPr>
          <p:nvPr>
            <p:ph type="title"/>
          </p:nvPr>
        </p:nvSpPr>
        <p:spPr>
          <a:xfrm>
            <a:off x="284261" y="306061"/>
            <a:ext cx="3120420" cy="643021"/>
          </a:xfrm>
        </p:spPr>
        <p:txBody>
          <a:bodyPr/>
          <a:lstStyle/>
          <a:p>
            <a:r>
              <a:rPr lang="en-IN" dirty="0"/>
              <a:t>conclusion</a:t>
            </a:r>
          </a:p>
        </p:txBody>
      </p:sp>
      <p:sp>
        <p:nvSpPr>
          <p:cNvPr id="3" name="Content Placeholder 2">
            <a:extLst>
              <a:ext uri="{FF2B5EF4-FFF2-40B4-BE49-F238E27FC236}">
                <a16:creationId xmlns:a16="http://schemas.microsoft.com/office/drawing/2014/main" id="{820EB4C8-BF17-7BBE-4B23-FDF114907F9E}"/>
              </a:ext>
            </a:extLst>
          </p:cNvPr>
          <p:cNvSpPr>
            <a:spLocks noGrp="1"/>
          </p:cNvSpPr>
          <p:nvPr>
            <p:ph idx="1"/>
          </p:nvPr>
        </p:nvSpPr>
        <p:spPr>
          <a:xfrm>
            <a:off x="284261" y="1266216"/>
            <a:ext cx="9905998" cy="3124201"/>
          </a:xfrm>
        </p:spPr>
        <p:txBody>
          <a:bodyPr>
            <a:normAutofit lnSpcReduction="10000"/>
          </a:bodyPr>
          <a:lstStyle/>
          <a:p>
            <a:pPr>
              <a:spcBef>
                <a:spcPts val="0"/>
              </a:spcBef>
              <a:buClr>
                <a:schemeClr val="tx1"/>
              </a:buClr>
              <a:buSzPts val="1800"/>
              <a:buFont typeface="Wingdings" panose="05000000000000000000" pitchFamily="2" charset="2"/>
              <a:buChar char="Ø"/>
            </a:pPr>
            <a:r>
              <a:rPr lang="en-US" dirty="0">
                <a:latin typeface="Gill Sans MT (Body)"/>
                <a:ea typeface="Comic Sans MS"/>
                <a:cs typeface="Comic Sans MS"/>
                <a:sym typeface="Comic Sans MS"/>
              </a:rPr>
              <a:t>The </a:t>
            </a:r>
            <a:r>
              <a:rPr lang="en-US" b="1" dirty="0">
                <a:latin typeface="Gill Sans MT (Body)"/>
                <a:ea typeface="Comic Sans MS"/>
                <a:cs typeface="Comic Sans MS"/>
                <a:sym typeface="Comic Sans MS"/>
              </a:rPr>
              <a:t>Olist Store Analysis</a:t>
            </a:r>
            <a:r>
              <a:rPr lang="en-US" dirty="0">
                <a:latin typeface="Gill Sans MT (Body)"/>
                <a:ea typeface="Comic Sans MS"/>
                <a:cs typeface="Comic Sans MS"/>
                <a:sym typeface="Comic Sans MS"/>
              </a:rPr>
              <a:t> provides key insights into customer behavior &amp; payment trends.</a:t>
            </a:r>
            <a:endParaRPr lang="en-US" dirty="0">
              <a:latin typeface="Gill Sans MT (Body)"/>
              <a:sym typeface="Comic Sans MS"/>
            </a:endParaRPr>
          </a:p>
          <a:p>
            <a:pPr>
              <a:spcBef>
                <a:spcPts val="0"/>
              </a:spcBef>
              <a:buClr>
                <a:schemeClr val="tx1"/>
              </a:buClr>
              <a:buSzPts val="1800"/>
              <a:buFont typeface="Wingdings" panose="05000000000000000000" pitchFamily="2" charset="2"/>
              <a:buChar char="Ø"/>
            </a:pPr>
            <a:endParaRPr lang="en-US" dirty="0">
              <a:latin typeface="Gill Sans MT (Body)"/>
              <a:ea typeface="Comic Sans MS"/>
              <a:cs typeface="Comic Sans MS"/>
              <a:sym typeface="Comic Sans MS"/>
            </a:endParaRPr>
          </a:p>
          <a:p>
            <a:pPr lvl="0">
              <a:spcBef>
                <a:spcPts val="0"/>
              </a:spcBef>
              <a:buClr>
                <a:schemeClr val="tx1"/>
              </a:buClr>
              <a:buSzPts val="1800"/>
              <a:buFont typeface="Wingdings" panose="05000000000000000000" pitchFamily="2" charset="2"/>
              <a:buChar char="Ø"/>
            </a:pPr>
            <a:r>
              <a:rPr lang="en-US" dirty="0">
                <a:latin typeface="Gill Sans MT (Body)"/>
                <a:ea typeface="Comic Sans MS"/>
                <a:cs typeface="Comic Sans MS"/>
                <a:sym typeface="Comic Sans MS"/>
              </a:rPr>
              <a:t>KPI analysis helps identify </a:t>
            </a:r>
            <a:r>
              <a:rPr lang="en-US" b="1" dirty="0">
                <a:latin typeface="Gill Sans MT (Body)"/>
                <a:ea typeface="Comic Sans MS"/>
                <a:cs typeface="Comic Sans MS"/>
                <a:sym typeface="Comic Sans MS"/>
              </a:rPr>
              <a:t>improvement areas</a:t>
            </a:r>
            <a:r>
              <a:rPr lang="en-US" dirty="0">
                <a:latin typeface="Gill Sans MT (Body)"/>
                <a:ea typeface="Comic Sans MS"/>
                <a:cs typeface="Comic Sans MS"/>
                <a:sym typeface="Comic Sans MS"/>
              </a:rPr>
              <a:t> and design </a:t>
            </a:r>
            <a:r>
              <a:rPr lang="en-US" b="1" dirty="0">
                <a:latin typeface="Gill Sans MT (Body)"/>
                <a:ea typeface="Comic Sans MS"/>
                <a:cs typeface="Comic Sans MS"/>
                <a:sym typeface="Comic Sans MS"/>
              </a:rPr>
              <a:t>targeted marketing campaigns</a:t>
            </a:r>
            <a:r>
              <a:rPr lang="en-US" dirty="0">
                <a:latin typeface="Gill Sans MT (Body)"/>
                <a:ea typeface="Comic Sans MS"/>
                <a:cs typeface="Comic Sans MS"/>
                <a:sym typeface="Comic Sans MS"/>
              </a:rPr>
              <a:t>.</a:t>
            </a:r>
            <a:endParaRPr lang="en-US" dirty="0">
              <a:latin typeface="Gill Sans MT (Body)"/>
            </a:endParaRPr>
          </a:p>
          <a:p>
            <a:pPr marL="457200" lvl="0" indent="-342900">
              <a:spcBef>
                <a:spcPts val="0"/>
              </a:spcBef>
              <a:buClr>
                <a:schemeClr val="tx1"/>
              </a:buClr>
              <a:buSzPts val="1800"/>
              <a:buFont typeface="Wingdings" panose="05000000000000000000" pitchFamily="2" charset="2"/>
              <a:buChar char="Ø"/>
            </a:pPr>
            <a:endParaRPr lang="en-US" dirty="0">
              <a:latin typeface="Gill Sans MT (Body)"/>
              <a:ea typeface="Comic Sans MS"/>
              <a:cs typeface="Comic Sans MS"/>
              <a:sym typeface="Comic Sans MS"/>
            </a:endParaRPr>
          </a:p>
          <a:p>
            <a:pPr lvl="0">
              <a:spcBef>
                <a:spcPts val="0"/>
              </a:spcBef>
              <a:buClr>
                <a:schemeClr val="tx1"/>
              </a:buClr>
              <a:buSzPts val="1800"/>
              <a:buFont typeface="Wingdings" panose="05000000000000000000" pitchFamily="2" charset="2"/>
              <a:buChar char="Ø"/>
            </a:pPr>
            <a:r>
              <a:rPr lang="en-US" dirty="0">
                <a:latin typeface="Gill Sans MT (Body)"/>
                <a:ea typeface="Comic Sans MS"/>
                <a:cs typeface="Comic Sans MS"/>
                <a:sym typeface="Comic Sans MS"/>
              </a:rPr>
              <a:t>Tools used: </a:t>
            </a:r>
            <a:r>
              <a:rPr lang="en-US" b="1" dirty="0">
                <a:latin typeface="Gill Sans MT (Body)"/>
                <a:ea typeface="Comic Sans MS"/>
                <a:cs typeface="Comic Sans MS"/>
                <a:sym typeface="Comic Sans MS"/>
              </a:rPr>
              <a:t>Excel</a:t>
            </a:r>
            <a:r>
              <a:rPr lang="en-US" dirty="0">
                <a:latin typeface="Gill Sans MT (Body)"/>
                <a:ea typeface="Comic Sans MS"/>
                <a:cs typeface="Comic Sans MS"/>
                <a:sym typeface="Comic Sans MS"/>
              </a:rPr>
              <a:t> &amp; </a:t>
            </a:r>
            <a:r>
              <a:rPr lang="en-US" b="1" dirty="0">
                <a:latin typeface="Gill Sans MT (Body)"/>
                <a:ea typeface="Comic Sans MS"/>
                <a:cs typeface="Comic Sans MS"/>
                <a:sym typeface="Comic Sans MS"/>
              </a:rPr>
              <a:t>Power BI</a:t>
            </a:r>
            <a:r>
              <a:rPr lang="en-US" dirty="0">
                <a:latin typeface="Gill Sans MT (Body)"/>
                <a:ea typeface="Comic Sans MS"/>
                <a:cs typeface="Comic Sans MS"/>
                <a:sym typeface="Comic Sans MS"/>
              </a:rPr>
              <a:t> for data cleaning, manipulation &amp; visualization.</a:t>
            </a:r>
            <a:endParaRPr lang="en-US" dirty="0">
              <a:latin typeface="Gill Sans MT (Body)"/>
            </a:endParaRPr>
          </a:p>
          <a:p>
            <a:pPr marL="457200" lvl="0" indent="-342900">
              <a:spcBef>
                <a:spcPts val="0"/>
              </a:spcBef>
              <a:buClr>
                <a:schemeClr val="lt1"/>
              </a:buClr>
              <a:buSzPts val="1800"/>
              <a:buFont typeface="Wingdings" panose="05000000000000000000" pitchFamily="2" charset="2"/>
              <a:buChar char="Ø"/>
            </a:pPr>
            <a:endParaRPr lang="en-US" dirty="0">
              <a:latin typeface="Gill Sans MT (Body)"/>
              <a:ea typeface="Comic Sans MS"/>
              <a:cs typeface="Comic Sans MS"/>
              <a:sym typeface="Comic Sans MS"/>
            </a:endParaRPr>
          </a:p>
          <a:p>
            <a:pPr lvl="0">
              <a:spcBef>
                <a:spcPts val="0"/>
              </a:spcBef>
              <a:buClr>
                <a:schemeClr val="tx1"/>
              </a:buClr>
              <a:buSzPts val="1800"/>
              <a:buFont typeface="Wingdings" panose="05000000000000000000" pitchFamily="2" charset="2"/>
              <a:buChar char="Ø"/>
            </a:pPr>
            <a:r>
              <a:rPr lang="en-US" dirty="0">
                <a:latin typeface="Gill Sans MT (Body)"/>
                <a:ea typeface="Comic Sans MS"/>
                <a:cs typeface="Comic Sans MS"/>
                <a:sym typeface="Comic Sans MS"/>
              </a:rPr>
              <a:t>Demonstrates how </a:t>
            </a:r>
            <a:r>
              <a:rPr lang="en-US" b="1" dirty="0">
                <a:latin typeface="Gill Sans MT (Body)"/>
                <a:ea typeface="Comic Sans MS"/>
                <a:cs typeface="Comic Sans MS"/>
                <a:sym typeface="Comic Sans MS"/>
              </a:rPr>
              <a:t>data analysis drives informed business decisions.</a:t>
            </a:r>
            <a:endParaRPr lang="en-US" dirty="0">
              <a:latin typeface="Gill Sans MT (Body)"/>
              <a:ea typeface="Comic Sans MS"/>
              <a:cs typeface="Comic Sans MS"/>
              <a:sym typeface="Comic Sans MS"/>
            </a:endParaRPr>
          </a:p>
          <a:p>
            <a:endParaRPr lang="en-IN" dirty="0"/>
          </a:p>
        </p:txBody>
      </p:sp>
    </p:spTree>
    <p:extLst>
      <p:ext uri="{BB962C8B-B14F-4D97-AF65-F5344CB8AC3E}">
        <p14:creationId xmlns:p14="http://schemas.microsoft.com/office/powerpoint/2010/main" val="3746992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2EF970-5EB1-1A45-E4E3-E43054CB1CAC}"/>
              </a:ext>
            </a:extLst>
          </p:cNvPr>
          <p:cNvSpPr txBox="1"/>
          <p:nvPr/>
        </p:nvSpPr>
        <p:spPr>
          <a:xfrm>
            <a:off x="4127863" y="2899203"/>
            <a:ext cx="9554271" cy="830997"/>
          </a:xfrm>
          <a:prstGeom prst="rect">
            <a:avLst/>
          </a:prstGeom>
          <a:noFill/>
        </p:spPr>
        <p:txBody>
          <a:bodyPr wrap="square" rtlCol="0" anchor="ctr">
            <a:spAutoFit/>
          </a:bodyPr>
          <a:lstStyle/>
          <a:p>
            <a:pPr algn="just"/>
            <a:r>
              <a:rPr lang="en-IN" sz="4800" dirty="0"/>
              <a:t>THANK YOU</a:t>
            </a:r>
          </a:p>
        </p:txBody>
      </p:sp>
    </p:spTree>
    <p:extLst>
      <p:ext uri="{BB962C8B-B14F-4D97-AF65-F5344CB8AC3E}">
        <p14:creationId xmlns:p14="http://schemas.microsoft.com/office/powerpoint/2010/main" val="1139541032"/>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Override1.xml><?xml version="1.0" encoding="utf-8"?>
<a:themeOverride xmlns:a="http://schemas.openxmlformats.org/drawingml/2006/main">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themeOverride>
</file>

<file path=ppt/theme/themeOverride2.xml><?xml version="1.0" encoding="utf-8"?>
<a:themeOverride xmlns:a="http://schemas.openxmlformats.org/drawingml/2006/main">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themeOverride>
</file>

<file path=docProps/app.xml><?xml version="1.0" encoding="utf-8"?>
<Properties xmlns="http://schemas.openxmlformats.org/officeDocument/2006/extended-properties" xmlns:vt="http://schemas.openxmlformats.org/officeDocument/2006/docPropsVTypes">
  <Template>TM02900743[[fn=Organic]]</Template>
  <TotalTime>610</TotalTime>
  <Words>631</Words>
  <Application>Microsoft Office PowerPoint</Application>
  <PresentationFormat>Widescreen</PresentationFormat>
  <Paragraphs>92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Century Gothic</vt:lpstr>
      <vt:lpstr>Gill Sans MT (Body)</vt:lpstr>
      <vt:lpstr>Wingdings</vt:lpstr>
      <vt:lpstr>Mesh</vt:lpstr>
      <vt:lpstr>PowerPoint Presentation</vt:lpstr>
      <vt:lpstr>introduction</vt:lpstr>
      <vt:lpstr>objectives</vt:lpstr>
      <vt:lpstr>Project process</vt:lpstr>
      <vt:lpstr>Olist store analysis</vt:lpstr>
      <vt:lpstr>Olist store analysis</vt:lpstr>
      <vt:lpstr>PowerPoint Presentation</vt:lpstr>
      <vt:lpstr>How We Resolved Them </vt:lpstr>
      <vt:lpstr>insights</vt:lpstr>
      <vt:lpstr>Excel dashboard</vt:lpstr>
      <vt:lpstr>Tableau dashboard</vt:lpstr>
      <vt:lpstr>Tableau dashboard</vt:lpstr>
      <vt:lpstr>Power bi dashboard</vt:lpstr>
      <vt:lpstr>Sql queries</vt:lpstr>
      <vt:lpstr>summary</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uppuluri</dc:creator>
  <cp:lastModifiedBy>amulrathan gumpula</cp:lastModifiedBy>
  <cp:revision>5</cp:revision>
  <dcterms:created xsi:type="dcterms:W3CDTF">2025-12-17T07:22:41Z</dcterms:created>
  <dcterms:modified xsi:type="dcterms:W3CDTF">2026-01-29T11:18:02Z</dcterms:modified>
</cp:coreProperties>
</file>